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1: Start by introducing the core bottleneck. Every digital filter uses MACs, but hardware multipliers are expensive on edge FPGAs.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1: Show the baseline RTL. Explain that the combinational depth of the exact adder tree prevents reaching 100MHz.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2: Transition into what standard VLSI engineers do to fix this, and why those methods fall short for adaptive edge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2: This is a crucial slide. Explain that raw Fmax is an illusion if it takes 8 cycles to push out one piece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3: Introduce the philosophy. We are trading exact mathematical precision for massive hardware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3: Walk through the three stages of our datapath. Emphasize that it operates fully parallel in a single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1: Focus on the approxloaadder. This is why our internal switching power dropped so dramatically.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1: Emphasize that these are post-routing results, not just synthesis estimates. It's real silicon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2: Point to the graph. Show how the DSP bars (dark gray) drop to literal zero for the last three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2: Explain the Fmax scaling. Remind the audience that the 166 MHz of Approx DA is a true single-cycle 166 MSPS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3: Show the power stack. Static power is constant across the fabric, but we crushed the dynamic power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3: This is the mic drop. Summarize the thesis in these three bullet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speaker: Conclude with where this research can go next. Hand back to the examiners.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Power-Performance-Area Trade-offs in FPGA-Based FIR Accelerators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A Comprehensive Architectural Analysis</a:t>
            </a:r>
          </a:p>
          <a:p>
            <a:pPr>
              <a:defRPr sz="2000">
                <a:solidFill>
                  <a:srgbClr val="323232"/>
                </a:solidFill>
              </a:defRPr>
            </a:pP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Saptarshi Pal, Rounak Roy Choudhury, Gopesh Saha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Supervised by Dr. Hemanta Kumar Mondal &amp; Dr. Rajashree Das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NIT Durgapur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The Hardware Multiplier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/>
            </a:pPr>
            <a:r>
              <a:t>• Edge computing &amp; signal processing rely heavily on Multiply-Accumulate (MAC) arrays.</a:t>
            </a:r>
          </a:p>
          <a:p>
            <a:pPr>
              <a:defRPr sz="2400"/>
            </a:pPr>
            <a:r>
              <a:t>• FPGA hardware multipliers (DSP slices) are a strictly constrained resource (e.g., 740 on Artix-7).</a:t>
            </a:r>
          </a:p>
          <a:p>
            <a:pPr>
              <a:defRPr sz="2400"/>
            </a:pPr>
            <a:r>
              <a:t>• Standard parallel architectures exhaust DSPs rapidly, leading to routing congestion and power spikes.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Baseline Direct-Form MAC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 wrap="square"/>
          <a:lstStyle/>
          <a:p>
            <a:pPr>
              <a:defRPr sz="2400"/>
            </a:pPr>
            <a:r>
              <a:t>• Implements the N-tap convolution equation directly in hardware.</a:t>
            </a:r>
          </a:p>
          <a:p>
            <a:pPr>
              <a:defRPr sz="2400"/>
            </a:pPr>
            <a:r>
              <a:t>• Fully parallel: N multipliers feeding into a deep log(N) combinational adder tree.</a:t>
            </a:r>
          </a:p>
          <a:p>
            <a:pPr>
              <a:defRPr sz="2400"/>
            </a:pPr>
            <a:r>
              <a:t>• Massive critical path delay causes failure to meet high-frequency timing constraints.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200400"/>
            <a:ext cx="548640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6464"/>
                </a:solidFill>
              </a:defRPr>
            </a:pPr>
            <a:r>
              <a:t>[PASTE FIGURE 3.1: VIVADO RTL SCHEMATIC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Conventional Fixes &amp; Their Flaws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/>
            </a:pPr>
            <a:r>
              <a:t>• Register Pipelining: Fixes clock speed, but spikes DSP utilization by 8x and increases dynamic power.</a:t>
            </a:r>
          </a:p>
          <a:p>
            <a:pPr>
              <a:defRPr sz="2400"/>
            </a:pPr>
            <a:r>
              <a:t>• Coefficient Symmetry: Reduces DSPs by half, but fundamentally retains hardware multipliers.</a:t>
            </a:r>
          </a:p>
          <a:p>
            <a:pPr>
              <a:defRPr sz="2400"/>
            </a:pPr>
            <a:r>
              <a:t>• Shift-and-Add (CSD): Achieves 0 DSPs via hardwired shifts, but destroys runtime reconfigurability.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The 'Throughput Paradox'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/>
            </a:pPr>
            <a:r>
              <a:t>• Time-Multiplexed (Folded) MACs are praised for achieving high raw frequencies (F_max).</a:t>
            </a:r>
          </a:p>
          <a:p>
            <a:pPr>
              <a:defRPr sz="2400"/>
            </a:pPr>
            <a:r>
              <a:t>• However, they require multiple clock cycles per output.</a:t>
            </a:r>
          </a:p>
          <a:p>
            <a:pPr>
              <a:defRPr sz="2400"/>
            </a:pPr>
            <a:r>
              <a:t>• Example: Our Folded MAC hits 207.9 MHz but requires 8 cycles per output.</a:t>
            </a:r>
          </a:p>
          <a:p>
            <a:pPr>
              <a:defRPr sz="2400"/>
            </a:pPr>
            <a:r>
              <a:t>• Effective Throughput = 207.9 MHz / 8 cycles = 25.99 MSPS (Mega-Samples Per Second).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The Proposed Paradigm: Approximate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/>
            </a:pPr>
            <a:r>
              <a:t>• Signal processing and AI workloads are inherently error-tolerant.</a:t>
            </a:r>
          </a:p>
          <a:p>
            <a:pPr>
              <a:defRPr sz="2400"/>
            </a:pPr>
            <a:r>
              <a:t>• Precise arithmetic in the Least Significant Bits (LSBs) costs power/delay but adds little to signal quality.</a:t>
            </a:r>
          </a:p>
          <a:p>
            <a:pPr>
              <a:defRPr sz="2400"/>
            </a:pPr>
            <a:r>
              <a:t>• Proposal: Deliberately relax exactness in the LSBs to fracture the carry-propagate chain.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Proposed Architecture: Approximate 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 wrap="square"/>
          <a:lstStyle/>
          <a:p>
            <a:pPr>
              <a:defRPr sz="2400"/>
            </a:pPr>
            <a:r>
              <a:t>• A DSP-free architecture that maintains runtime adaptability.</a:t>
            </a:r>
          </a:p>
          <a:p>
            <a:pPr>
              <a:defRPr sz="2400"/>
            </a:pPr>
            <a:r>
              <a:t>1. Input Truncation: Drops 4 LSBs, adds constant hardware bias.</a:t>
            </a:r>
          </a:p>
          <a:p>
            <a:pPr>
              <a:defRPr sz="2400"/>
            </a:pPr>
            <a:r>
              <a:t>2. Radix-8 Booth Encoding: Partial products via pure shifts.</a:t>
            </a:r>
          </a:p>
          <a:p>
            <a:pPr>
              <a:defRPr sz="2400"/>
            </a:pPr>
            <a:r>
              <a:t>3. Approximate Wallace Tree: Reduces rows using LOA adders.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200400"/>
            <a:ext cx="548640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6464"/>
                </a:solidFill>
              </a:defRPr>
            </a:pPr>
            <a:r>
              <a:t>[PASTE APPROX DA BLOCK DIAGRAM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Hardware Innovation: The LOA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/>
            </a:pPr>
            <a:r>
              <a:t>• Lower-Part OR Adder (LOA) replaces exact LSB adders with static OR gates.</a:t>
            </a:r>
          </a:p>
          <a:p>
            <a:pPr>
              <a:defRPr sz="2400"/>
            </a:pPr>
            <a:r>
              <a:t>• Exact MSBs maintain dynamic range; Approximate LSBs resolve in a single gate delay.</a:t>
            </a:r>
          </a:p>
          <a:p>
            <a:pPr>
              <a:defRPr sz="2400"/>
            </a:pPr>
            <a:r>
              <a:t>• Result: Zero carry propagation in the lower bits, yielding fractional milliwatt logic power.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Implementation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/>
            </a:pPr>
            <a:r>
              <a:t>• Target Device: AMD Xilinx Artix-7 (XC7A200T-2fbg676).</a:t>
            </a:r>
          </a:p>
          <a:p>
            <a:pPr>
              <a:defRPr sz="2400"/>
            </a:pPr>
            <a:r>
              <a:t>• Constraint: Unified 10.0 ns (100 MHz) target across all six designs.</a:t>
            </a:r>
          </a:p>
          <a:p>
            <a:pPr>
              <a:defRPr sz="2400"/>
            </a:pPr>
            <a:r>
              <a:t>• Toolchain: Xilinx Vivado (Full RTL Synthesis, Place, and Route).</a:t>
            </a:r>
          </a:p>
          <a:p>
            <a:pPr>
              <a:defRPr sz="2400"/>
            </a:pPr>
            <a:r>
              <a:t>• Metrics: Extracted Post-Routing to account for physical wire delays and gate capacitances.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Results: DSP &amp; LUT Area Utilization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 wrap="square"/>
          <a:lstStyle/>
          <a:p>
            <a:pPr>
              <a:defRPr sz="2400"/>
            </a:pPr>
            <a:r>
              <a:t>• Baseline and Pipelined architectures aggressively consume DSP budgets.</a:t>
            </a:r>
          </a:p>
          <a:p>
            <a:pPr>
              <a:defRPr sz="2400"/>
            </a:pPr>
            <a:r>
              <a:t>• Approximate DA completely eliminates DSP usage (0%) while maintaining low LUT usage (&lt;0.1%).</a:t>
            </a:r>
          </a:p>
        </p:txBody>
      </p:sp>
      <p:pic>
        <p:nvPicPr>
          <p:cNvPr id="4" name="Picture 3" descr="area_chart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Results: Operating Frequency (F_max)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 wrap="square"/>
          <a:lstStyle/>
          <a:p>
            <a:pPr>
              <a:defRPr sz="2400"/>
            </a:pPr>
            <a:r>
              <a:t>• Baseline fails timing closure (97.5 MHz).</a:t>
            </a:r>
          </a:p>
          <a:p>
            <a:pPr>
              <a:defRPr sz="2400"/>
            </a:pPr>
            <a:r>
              <a:t>• Folded MAC peaks artificially due to small combinational depth.</a:t>
            </a:r>
          </a:p>
          <a:p>
            <a:pPr>
              <a:defRPr sz="2400"/>
            </a:pPr>
            <a:r>
              <a:t>• Approximate DA achieves 166.0 MHz as a fully parallel, single-cycle architecture.</a:t>
            </a:r>
          </a:p>
        </p:txBody>
      </p:sp>
      <p:pic>
        <p:nvPicPr>
          <p:cNvPr id="4" name="Picture 3" descr="fmax_chart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Results: Power Dissipation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 wrap="square"/>
          <a:lstStyle/>
          <a:p>
            <a:pPr>
              <a:defRPr sz="2400"/>
            </a:pPr>
            <a:r>
              <a:t>• Pipelining burns the most dynamic power due to heavy flip-flop and carry-chain toggling.</a:t>
            </a:r>
          </a:p>
          <a:p>
            <a:pPr>
              <a:defRPr sz="2400"/>
            </a:pPr>
            <a:r>
              <a:t>• Approximate DA minimizes dynamic power by fracturing the carry-chain via LOA adders.</a:t>
            </a:r>
          </a:p>
        </p:txBody>
      </p:sp>
      <p:pic>
        <p:nvPicPr>
          <p:cNvPr id="4" name="Picture 3" descr="power_chart_bw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Conclusion: The Pareto-Optimal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/>
            </a:pPr>
            <a:r>
              <a:t>• The Approximate DA datapath achieved:</a:t>
            </a:r>
          </a:p>
          <a:p>
            <a:pPr>
              <a:defRPr sz="2400"/>
            </a:pPr>
            <a:r>
              <a:t>  - 0 Dedicated DSP Slices</a:t>
            </a:r>
          </a:p>
          <a:p>
            <a:pPr>
              <a:defRPr sz="2400"/>
            </a:pPr>
            <a:r>
              <a:t>  - 166.0 MSPS Effective Throughput (6.3x faster than Folded MAC)</a:t>
            </a:r>
          </a:p>
          <a:p>
            <a:pPr>
              <a:defRPr sz="2400"/>
            </a:pPr>
            <a:r>
              <a:t>  - &lt; 1 mW Internal Logic Dynamic Power</a:t>
            </a:r>
          </a:p>
          <a:p>
            <a:pPr>
              <a:defRPr sz="2400"/>
            </a:pPr>
            <a:r>
              <a:t>• Strategically trading exact math for approximate logic yields the ideal edge accelerator.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Scope for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/>
            </a:pPr>
            <a:r>
              <a:t>• RISC-V Coprocessor Integration via AXI4-Stream interface.</a:t>
            </a:r>
          </a:p>
          <a:p>
            <a:pPr>
              <a:defRPr sz="2400"/>
            </a:pPr>
            <a:r>
              <a:t>• Adaptive Filtering: Implementing an LMS weight-update hardware block.</a:t>
            </a:r>
          </a:p>
          <a:p>
            <a:pPr>
              <a:defRPr sz="2400"/>
            </a:pPr>
            <a:r>
              <a:t>• ASIC Standard-Cell Synthesis (e.g., TSMC 28nm) for raw silicon area comparison.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Thank You</a:t>
            </a:r>
          </a:p>
          <a:p>
            <a:pPr algn="ctr">
              <a:defRPr sz="3200"/>
            </a:pP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